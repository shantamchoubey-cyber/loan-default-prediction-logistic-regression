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notesMasterIdLst>
    <p:notesMasterId r:id="rId8"/>
  </p:notesMasterIdLst>
  <p:sldIdLst>
    <p:sldId id="256" r:id="rId2"/>
    <p:sldId id="259" r:id="rId3"/>
    <p:sldId id="260" r:id="rId4"/>
    <p:sldId id="261" r:id="rId5"/>
    <p:sldId id="258" r:id="rId6"/>
    <p:sldId id="262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2010" autoAdjust="0"/>
  </p:normalViewPr>
  <p:slideViewPr>
    <p:cSldViewPr snapToGrid="0">
      <p:cViewPr varScale="1">
        <p:scale>
          <a:sx n="78" d="100"/>
          <a:sy n="78" d="100"/>
        </p:scale>
        <p:origin x="85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7FB52BC-E014-4F95-902A-A0A4A71B5504}" type="datetimeFigureOut">
              <a:rPr lang="en-IN" smtClean="0"/>
              <a:t>21-06-2026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FAF76E9-B7A2-4389-A102-265F42D111E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330657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AF76E9-B7A2-4389-A102-265F42D111E4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43802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E2BE22-929D-4573-8592-ABE7353B44C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2E7E44E-13FD-4AA3-B730-6DE8246E747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71D6D7-7D85-4B74-9F0D-84DA887FC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419E53-4D76-49B0-8EC1-DDC9F7D205C2}" type="datetimeFigureOut">
              <a:rPr lang="en-IN" smtClean="0"/>
              <a:t>21-06-2026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EE9624-32FB-4C7E-A64B-E1BAF166BB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585822-C0B9-4D50-8838-714E01B75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87E548-BE93-4739-AB00-ECB1A2169A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658100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5D44C8-E063-42E2-8FD3-A2969F3E88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B6CA4D-A174-42A6-81C8-8106F2C3D6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955D0E-1527-453C-B393-7E7550957F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419E53-4D76-49B0-8EC1-DDC9F7D205C2}" type="datetimeFigureOut">
              <a:rPr lang="en-IN" smtClean="0"/>
              <a:t>21-06-2026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99336E-8D1A-417D-88AD-D0D3E973B3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81217B-0EB6-4ACD-B835-77030A620C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87E548-BE93-4739-AB00-ECB1A2169A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536801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81EECE-A49E-4ABA-B0F5-FDED1660AF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6A4F56-A7EF-44E1-A493-76CE884513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796613-668D-4BC2-97E7-DD3E9C25B2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419E53-4D76-49B0-8EC1-DDC9F7D205C2}" type="datetimeFigureOut">
              <a:rPr lang="en-IN" smtClean="0"/>
              <a:t>21-06-2026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57690B-6BCE-4D42-B53C-AA801697CD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30F302-74A3-41D6-ACDE-3A3211DBF0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87E548-BE93-4739-AB00-ECB1A2169A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878966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08DF99-6E4E-41B9-B88C-6736BFEA09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BFFA26-C673-4738-B580-5B94C04DDD6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BEDE88F-A9EA-4767-BE0E-ED9A8BB4B3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7D1211-7CAD-4782-B1D7-05E4316C0E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419E53-4D76-49B0-8EC1-DDC9F7D205C2}" type="datetimeFigureOut">
              <a:rPr lang="en-IN" smtClean="0"/>
              <a:t>21-06-2026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AFA601-4C09-4A0A-86F5-8121657D8B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86F78C-80FD-43EE-8703-FC7CBF3F71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87E548-BE93-4739-AB00-ECB1A2169A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754475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68A0B6-156C-4E48-9110-73BDDE9781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B30919-2E86-40AF-9176-688AF8B4A9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BD1E4C1-503E-490B-B62B-6A7DC38D60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59AE0CF-341A-4F2D-81B3-CF06A8A9433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EE23852-EA91-4D02-8B96-6AAEAE9E55A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34875B4-8614-4820-84D0-3997D514FA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419E53-4D76-49B0-8EC1-DDC9F7D205C2}" type="datetimeFigureOut">
              <a:rPr lang="en-IN" smtClean="0"/>
              <a:t>21-06-2026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69FE4C5-4470-4918-9D1A-FFB0FC240F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A4B1A78-C370-4A8A-B529-A562D2F0D5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87E548-BE93-4739-AB00-ECB1A2169A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643127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2D7513-E4FE-42DE-AACF-5A30DBD9D9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2773342-3A25-45C0-A7E8-DA931F0250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419E53-4D76-49B0-8EC1-DDC9F7D205C2}" type="datetimeFigureOut">
              <a:rPr lang="en-IN" smtClean="0"/>
              <a:t>21-06-2026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E1AD42D-8C48-49F0-97A1-98A3C0AEFB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E38C7ED-5C41-4EB1-AB16-C67DDE57EE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87E548-BE93-4739-AB00-ECB1A2169A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25050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F7511B-5154-4E03-937C-7146661568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419E53-4D76-49B0-8EC1-DDC9F7D205C2}" type="datetimeFigureOut">
              <a:rPr lang="en-IN" smtClean="0"/>
              <a:t>21-06-2026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82FF45F-E8C7-4B6A-83A5-C2CDD456F4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890B94-E4A3-4497-A2B1-0519FB349A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87E548-BE93-4739-AB00-ECB1A2169A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900028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2B2313-82C7-4CE2-AC73-137ED85A55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74EEF8-E5B6-4074-8457-B88BD833A6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7BCFD4-0A30-4E88-BF2F-FE08B6FD38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96D0A2-61BC-4C09-947E-49CC09496C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419E53-4D76-49B0-8EC1-DDC9F7D205C2}" type="datetimeFigureOut">
              <a:rPr lang="en-IN" smtClean="0"/>
              <a:t>21-06-2026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0E492E-91F2-4B3F-A2C3-D47FBC753F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F66968-F91F-4F62-8635-20E95E31E7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87E548-BE93-4739-AB00-ECB1A2169A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392248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F13989-7A80-49AD-857B-5BD7A2FE79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1B79396-CEFE-4F69-B456-84E15888BCC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062882D-E50B-4B7F-BCC3-4205A77707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DDB945-76EE-4C05-9036-E31B5FC626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419E53-4D76-49B0-8EC1-DDC9F7D205C2}" type="datetimeFigureOut">
              <a:rPr lang="en-IN" smtClean="0"/>
              <a:t>21-06-2026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91CDC1-C246-4DA0-A4C8-6A26993D46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44E7AB-2BF8-43FC-B102-BFCA4DB2ED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87E548-BE93-4739-AB00-ECB1A2169A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84711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BD5B71-E0C1-4DD8-9B27-77398B7827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F778FE9-11CB-450C-B0BA-CEC15653FFB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90B733-5A0A-4450-AA34-85D2E4902D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419E53-4D76-49B0-8EC1-DDC9F7D205C2}" type="datetimeFigureOut">
              <a:rPr lang="en-IN" smtClean="0"/>
              <a:t>21-06-2026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BEC80B-7E76-445C-AAE4-886134239E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6CDE96-0F3E-4CF2-89A8-61C97849FA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87E548-BE93-4739-AB00-ECB1A2169A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923823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A4DD797-F7C7-46C0-BE43-A97CD31F91E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3AD9836-5D52-4992-91DB-B19E897A14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86017A-F47E-4348-AEA6-1ACD659435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419E53-4D76-49B0-8EC1-DDC9F7D205C2}" type="datetimeFigureOut">
              <a:rPr lang="en-IN" smtClean="0"/>
              <a:t>21-06-2026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5CE1C2-EF51-4A7F-9B06-4A2FC7D3B6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511C18-A1BC-4638-BEDB-AD150FCCA6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87E548-BE93-4739-AB00-ECB1A2169A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06934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AC49C6-D778-43A6-9984-0A7A6DA30C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A72E5B-2830-42F3-B979-6C8D283449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1AC7F9-9E81-41CE-97EC-06E7DD1A85E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419E53-4D76-49B0-8EC1-DDC9F7D205C2}" type="datetimeFigureOut">
              <a:rPr lang="en-IN" smtClean="0"/>
              <a:t>21-06-2026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A40FB4-78A8-445A-95F4-C8D7B935FBF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87BD89-126D-4C77-8C3E-59CD3F35EE6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87E548-BE93-4739-AB00-ECB1A2169A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382443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em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emf"/><Relationship Id="rId4" Type="http://schemas.openxmlformats.org/officeDocument/2006/relationships/image" Target="../media/image10.emf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E8A96A7-E1A3-4A93-AFE6-3024455149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5192" y="131051"/>
            <a:ext cx="11308702" cy="2388414"/>
          </a:xfrm>
        </p:spPr>
        <p:txBody>
          <a:bodyPr>
            <a:normAutofit/>
          </a:bodyPr>
          <a:lstStyle/>
          <a:p>
            <a:r>
              <a:rPr lang="en-US" sz="3200" b="1" u="sng" dirty="0"/>
              <a:t>Mathematical Model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6C6C6C"/>
                </a:solidFill>
                <a:effectLst/>
                <a:latin typeface="Arial" panose="020B0604020202020204" pitchFamily="34" charset="0"/>
              </a:rPr>
              <a:t>The model used is Logistic Regression 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6C6C6C"/>
                </a:solidFill>
                <a:effectLst/>
                <a:latin typeface="Arial" panose="020B0604020202020204" pitchFamily="34" charset="0"/>
              </a:rPr>
              <a:t>Logistic regression predicts a dependent data variable by analyzing the       relationship between one or more existing independent variables.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6C6C6C"/>
                </a:solidFill>
                <a:latin typeface="Arial" panose="020B0604020202020204" pitchFamily="34" charset="0"/>
              </a:rPr>
              <a:t>R</a:t>
            </a:r>
            <a:r>
              <a:rPr lang="en-US" b="0" i="0" dirty="0">
                <a:solidFill>
                  <a:srgbClr val="6C6C6C"/>
                </a:solidFill>
                <a:effectLst/>
                <a:latin typeface="Arial" panose="020B0604020202020204" pitchFamily="34" charset="0"/>
              </a:rPr>
              <a:t>esulting analytical model can take into consideration multiple input criteria.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C106CAA-35DA-4170-B727-61F53AF0BDE4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4684" y="3565999"/>
            <a:ext cx="2298903" cy="265924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507E6CF-80A5-473C-BD83-64A74453DB8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68360" y="2787787"/>
            <a:ext cx="6423640" cy="356983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74A2DE02-AB19-4718-A95A-4AFBF14C460D}"/>
              </a:ext>
            </a:extLst>
          </p:cNvPr>
          <p:cNvSpPr txBox="1"/>
          <p:nvPr/>
        </p:nvSpPr>
        <p:spPr>
          <a:xfrm>
            <a:off x="485192" y="6338956"/>
            <a:ext cx="16466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Equation Used</a:t>
            </a:r>
            <a:endParaRPr lang="en-IN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4324F52-DB30-4E35-8963-25948B9258C3}"/>
              </a:ext>
            </a:extLst>
          </p:cNvPr>
          <p:cNvSpPr txBox="1"/>
          <p:nvPr/>
        </p:nvSpPr>
        <p:spPr>
          <a:xfrm>
            <a:off x="8716305" y="6357617"/>
            <a:ext cx="17780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Equation Graph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308038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10F960-D9CF-47FB-9735-9A2399CB6D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4255" y="5334813"/>
            <a:ext cx="7188844" cy="1418452"/>
          </a:xfrm>
        </p:spPr>
        <p:txBody>
          <a:bodyPr>
            <a:normAutofit fontScale="85000" lnSpcReduction="10000"/>
          </a:bodyPr>
          <a:lstStyle/>
          <a:p>
            <a:r>
              <a:rPr lang="en-US" dirty="0"/>
              <a:t>Model depicts 95% Confidence level</a:t>
            </a:r>
          </a:p>
          <a:p>
            <a:r>
              <a:rPr lang="en-US" dirty="0"/>
              <a:t>Red code depicts insignificant variables for prediction</a:t>
            </a:r>
          </a:p>
          <a:p>
            <a:r>
              <a:rPr lang="en-US" dirty="0"/>
              <a:t>Green Code depicts significant variables</a:t>
            </a:r>
          </a:p>
          <a:p>
            <a:endParaRPr lang="en-US" dirty="0"/>
          </a:p>
          <a:p>
            <a:endParaRPr lang="en-IN" dirty="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F95581DF-6153-48EA-9B52-0222376E1D1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4463" y="1431777"/>
            <a:ext cx="5724525" cy="3429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7EC0A51-4871-4E1F-8C94-7C5C449650EE}"/>
              </a:ext>
            </a:extLst>
          </p:cNvPr>
          <p:cNvSpPr txBox="1"/>
          <p:nvPr/>
        </p:nvSpPr>
        <p:spPr>
          <a:xfrm>
            <a:off x="7165401" y="104735"/>
            <a:ext cx="47903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u="sng" dirty="0"/>
              <a:t>Significance Level of Variables used in Modelling</a:t>
            </a:r>
            <a:endParaRPr lang="en-IN" b="1" u="sng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1146089-8D8B-426A-B866-0F999D338A9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16757" y="474385"/>
            <a:ext cx="4250988" cy="627888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0C69E4F-55FC-4293-967E-021DC0788440}"/>
              </a:ext>
            </a:extLst>
          </p:cNvPr>
          <p:cNvSpPr txBox="1"/>
          <p:nvPr/>
        </p:nvSpPr>
        <p:spPr>
          <a:xfrm>
            <a:off x="433514" y="4860777"/>
            <a:ext cx="69703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u="sng" dirty="0"/>
              <a:t>ROC curve showing model performance at all classification thresholds</a:t>
            </a:r>
            <a:r>
              <a:rPr lang="en-US" dirty="0"/>
              <a:t> </a:t>
            </a:r>
            <a:endParaRPr lang="en-IN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E56AD23-0B09-4C5D-939C-C11465B3B728}"/>
              </a:ext>
            </a:extLst>
          </p:cNvPr>
          <p:cNvSpPr/>
          <p:nvPr/>
        </p:nvSpPr>
        <p:spPr>
          <a:xfrm>
            <a:off x="324255" y="104735"/>
            <a:ext cx="6889195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u="sng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Historical Data Analysis</a:t>
            </a:r>
          </a:p>
        </p:txBody>
      </p:sp>
    </p:spTree>
    <p:extLst>
      <p:ext uri="{BB962C8B-B14F-4D97-AF65-F5344CB8AC3E}">
        <p14:creationId xmlns:p14="http://schemas.microsoft.com/office/powerpoint/2010/main" val="687962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31EBA7-A1E4-466B-B96E-59C24530AC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9843" y="141389"/>
            <a:ext cx="10515600" cy="724373"/>
          </a:xfrm>
        </p:spPr>
        <p:txBody>
          <a:bodyPr/>
          <a:lstStyle/>
          <a:p>
            <a:pPr algn="ctr"/>
            <a:r>
              <a:rPr lang="en-US" b="1" u="sng" dirty="0"/>
              <a:t>Final Prediction</a:t>
            </a:r>
            <a:endParaRPr lang="en-IN" b="1" u="sng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C1240721-7E3B-47C0-BCE9-E041E4B6EA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6747" y="3543418"/>
            <a:ext cx="5336157" cy="1085769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F87D2CF8-D0A2-4BAB-A26B-BDE5BD896636}"/>
              </a:ext>
            </a:extLst>
          </p:cNvPr>
          <p:cNvSpPr txBox="1"/>
          <p:nvPr/>
        </p:nvSpPr>
        <p:spPr>
          <a:xfrm>
            <a:off x="7519480" y="1050428"/>
            <a:ext cx="33200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u="sng" dirty="0"/>
              <a:t>Screenshot of the app’s Interface</a:t>
            </a:r>
            <a:endParaRPr lang="en-IN" b="1" u="sng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403F3E4-58A2-4EDB-A9F1-9235EADD59F0}"/>
              </a:ext>
            </a:extLst>
          </p:cNvPr>
          <p:cNvSpPr txBox="1"/>
          <p:nvPr/>
        </p:nvSpPr>
        <p:spPr>
          <a:xfrm>
            <a:off x="388653" y="1235094"/>
            <a:ext cx="6517985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We used a line equation of the form y=m(x)+c where x is independent variable</a:t>
            </a:r>
          </a:p>
          <a:p>
            <a:r>
              <a:rPr lang="en-US" sz="2400" dirty="0"/>
              <a:t>C is intercept when X = 0, the intercept is the log of the odds of having the outcome</a:t>
            </a:r>
          </a:p>
          <a:p>
            <a:r>
              <a:rPr lang="en-US" sz="2400" dirty="0"/>
              <a:t>And m is slope calculated by Logistic Regression</a:t>
            </a:r>
            <a:endParaRPr lang="en-IN" sz="2400" dirty="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C2C987E4-1E28-4C68-9AB4-0CF1BDAF48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6746" y="4809435"/>
            <a:ext cx="5336157" cy="1503815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0560D0A0-D43A-4A03-A3F5-295208E5C67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41659" y="1557958"/>
            <a:ext cx="3520745" cy="47552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59477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73B9F5-0FC9-40A2-AD0D-CB96FB6A0A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Annexures</a:t>
            </a:r>
            <a:endParaRPr lang="en-IN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45A6FA9-1AED-4236-8120-28B0D931F0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81917" y="1296372"/>
            <a:ext cx="3496879" cy="2910446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25B4F7DD-5AAF-4846-9440-7F6C9719DFE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59034" y="1333341"/>
            <a:ext cx="624840" cy="551688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DD930ED0-1292-4C6A-AD5E-F39A7756BC1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8004" y="999016"/>
            <a:ext cx="5048624" cy="58815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59132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84DC62-FE5A-4209-9860-50D4C347EF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Annexures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2816B6-FD6C-47A6-A7AE-C5A8512B39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Covariance Matrix</a:t>
            </a:r>
          </a:p>
          <a:p>
            <a:endParaRPr lang="en-IN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8E0C043-45A5-4FF2-99A5-207BD8838D6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37269583"/>
              </p:ext>
            </p:extLst>
          </p:nvPr>
        </p:nvGraphicFramePr>
        <p:xfrm>
          <a:off x="503852" y="2542906"/>
          <a:ext cx="11383344" cy="3949978"/>
        </p:xfrm>
        <a:graphic>
          <a:graphicData uri="http://schemas.openxmlformats.org/drawingml/2006/table">
            <a:tbl>
              <a:tblPr/>
              <a:tblGrid>
                <a:gridCol w="406548">
                  <a:extLst>
                    <a:ext uri="{9D8B030D-6E8A-4147-A177-3AD203B41FA5}">
                      <a16:colId xmlns:a16="http://schemas.microsoft.com/office/drawing/2014/main" val="396411963"/>
                    </a:ext>
                  </a:extLst>
                </a:gridCol>
                <a:gridCol w="406548">
                  <a:extLst>
                    <a:ext uri="{9D8B030D-6E8A-4147-A177-3AD203B41FA5}">
                      <a16:colId xmlns:a16="http://schemas.microsoft.com/office/drawing/2014/main" val="1359686331"/>
                    </a:ext>
                  </a:extLst>
                </a:gridCol>
                <a:gridCol w="406548">
                  <a:extLst>
                    <a:ext uri="{9D8B030D-6E8A-4147-A177-3AD203B41FA5}">
                      <a16:colId xmlns:a16="http://schemas.microsoft.com/office/drawing/2014/main" val="3986981178"/>
                    </a:ext>
                  </a:extLst>
                </a:gridCol>
                <a:gridCol w="406548">
                  <a:extLst>
                    <a:ext uri="{9D8B030D-6E8A-4147-A177-3AD203B41FA5}">
                      <a16:colId xmlns:a16="http://schemas.microsoft.com/office/drawing/2014/main" val="1549045768"/>
                    </a:ext>
                  </a:extLst>
                </a:gridCol>
                <a:gridCol w="406548">
                  <a:extLst>
                    <a:ext uri="{9D8B030D-6E8A-4147-A177-3AD203B41FA5}">
                      <a16:colId xmlns:a16="http://schemas.microsoft.com/office/drawing/2014/main" val="1183661327"/>
                    </a:ext>
                  </a:extLst>
                </a:gridCol>
                <a:gridCol w="406548">
                  <a:extLst>
                    <a:ext uri="{9D8B030D-6E8A-4147-A177-3AD203B41FA5}">
                      <a16:colId xmlns:a16="http://schemas.microsoft.com/office/drawing/2014/main" val="2295663423"/>
                    </a:ext>
                  </a:extLst>
                </a:gridCol>
                <a:gridCol w="406548">
                  <a:extLst>
                    <a:ext uri="{9D8B030D-6E8A-4147-A177-3AD203B41FA5}">
                      <a16:colId xmlns:a16="http://schemas.microsoft.com/office/drawing/2014/main" val="785375189"/>
                    </a:ext>
                  </a:extLst>
                </a:gridCol>
                <a:gridCol w="406548">
                  <a:extLst>
                    <a:ext uri="{9D8B030D-6E8A-4147-A177-3AD203B41FA5}">
                      <a16:colId xmlns:a16="http://schemas.microsoft.com/office/drawing/2014/main" val="686639847"/>
                    </a:ext>
                  </a:extLst>
                </a:gridCol>
                <a:gridCol w="406548">
                  <a:extLst>
                    <a:ext uri="{9D8B030D-6E8A-4147-A177-3AD203B41FA5}">
                      <a16:colId xmlns:a16="http://schemas.microsoft.com/office/drawing/2014/main" val="3209295385"/>
                    </a:ext>
                  </a:extLst>
                </a:gridCol>
                <a:gridCol w="406548">
                  <a:extLst>
                    <a:ext uri="{9D8B030D-6E8A-4147-A177-3AD203B41FA5}">
                      <a16:colId xmlns:a16="http://schemas.microsoft.com/office/drawing/2014/main" val="3211653378"/>
                    </a:ext>
                  </a:extLst>
                </a:gridCol>
                <a:gridCol w="406548">
                  <a:extLst>
                    <a:ext uri="{9D8B030D-6E8A-4147-A177-3AD203B41FA5}">
                      <a16:colId xmlns:a16="http://schemas.microsoft.com/office/drawing/2014/main" val="2241761559"/>
                    </a:ext>
                  </a:extLst>
                </a:gridCol>
                <a:gridCol w="406548">
                  <a:extLst>
                    <a:ext uri="{9D8B030D-6E8A-4147-A177-3AD203B41FA5}">
                      <a16:colId xmlns:a16="http://schemas.microsoft.com/office/drawing/2014/main" val="2440611468"/>
                    </a:ext>
                  </a:extLst>
                </a:gridCol>
                <a:gridCol w="406548">
                  <a:extLst>
                    <a:ext uri="{9D8B030D-6E8A-4147-A177-3AD203B41FA5}">
                      <a16:colId xmlns:a16="http://schemas.microsoft.com/office/drawing/2014/main" val="674459233"/>
                    </a:ext>
                  </a:extLst>
                </a:gridCol>
                <a:gridCol w="406548">
                  <a:extLst>
                    <a:ext uri="{9D8B030D-6E8A-4147-A177-3AD203B41FA5}">
                      <a16:colId xmlns:a16="http://schemas.microsoft.com/office/drawing/2014/main" val="2046043334"/>
                    </a:ext>
                  </a:extLst>
                </a:gridCol>
                <a:gridCol w="406548">
                  <a:extLst>
                    <a:ext uri="{9D8B030D-6E8A-4147-A177-3AD203B41FA5}">
                      <a16:colId xmlns:a16="http://schemas.microsoft.com/office/drawing/2014/main" val="442009291"/>
                    </a:ext>
                  </a:extLst>
                </a:gridCol>
                <a:gridCol w="406548">
                  <a:extLst>
                    <a:ext uri="{9D8B030D-6E8A-4147-A177-3AD203B41FA5}">
                      <a16:colId xmlns:a16="http://schemas.microsoft.com/office/drawing/2014/main" val="1825629854"/>
                    </a:ext>
                  </a:extLst>
                </a:gridCol>
                <a:gridCol w="406548">
                  <a:extLst>
                    <a:ext uri="{9D8B030D-6E8A-4147-A177-3AD203B41FA5}">
                      <a16:colId xmlns:a16="http://schemas.microsoft.com/office/drawing/2014/main" val="4224172468"/>
                    </a:ext>
                  </a:extLst>
                </a:gridCol>
                <a:gridCol w="406548">
                  <a:extLst>
                    <a:ext uri="{9D8B030D-6E8A-4147-A177-3AD203B41FA5}">
                      <a16:colId xmlns:a16="http://schemas.microsoft.com/office/drawing/2014/main" val="741039567"/>
                    </a:ext>
                  </a:extLst>
                </a:gridCol>
                <a:gridCol w="406548">
                  <a:extLst>
                    <a:ext uri="{9D8B030D-6E8A-4147-A177-3AD203B41FA5}">
                      <a16:colId xmlns:a16="http://schemas.microsoft.com/office/drawing/2014/main" val="2566953550"/>
                    </a:ext>
                  </a:extLst>
                </a:gridCol>
                <a:gridCol w="406548">
                  <a:extLst>
                    <a:ext uri="{9D8B030D-6E8A-4147-A177-3AD203B41FA5}">
                      <a16:colId xmlns:a16="http://schemas.microsoft.com/office/drawing/2014/main" val="4136149184"/>
                    </a:ext>
                  </a:extLst>
                </a:gridCol>
                <a:gridCol w="406548">
                  <a:extLst>
                    <a:ext uri="{9D8B030D-6E8A-4147-A177-3AD203B41FA5}">
                      <a16:colId xmlns:a16="http://schemas.microsoft.com/office/drawing/2014/main" val="2378187893"/>
                    </a:ext>
                  </a:extLst>
                </a:gridCol>
                <a:gridCol w="406548">
                  <a:extLst>
                    <a:ext uri="{9D8B030D-6E8A-4147-A177-3AD203B41FA5}">
                      <a16:colId xmlns:a16="http://schemas.microsoft.com/office/drawing/2014/main" val="445932957"/>
                    </a:ext>
                  </a:extLst>
                </a:gridCol>
                <a:gridCol w="406548">
                  <a:extLst>
                    <a:ext uri="{9D8B030D-6E8A-4147-A177-3AD203B41FA5}">
                      <a16:colId xmlns:a16="http://schemas.microsoft.com/office/drawing/2014/main" val="1817348138"/>
                    </a:ext>
                  </a:extLst>
                </a:gridCol>
                <a:gridCol w="406548">
                  <a:extLst>
                    <a:ext uri="{9D8B030D-6E8A-4147-A177-3AD203B41FA5}">
                      <a16:colId xmlns:a16="http://schemas.microsoft.com/office/drawing/2014/main" val="2719788011"/>
                    </a:ext>
                  </a:extLst>
                </a:gridCol>
                <a:gridCol w="406548">
                  <a:extLst>
                    <a:ext uri="{9D8B030D-6E8A-4147-A177-3AD203B41FA5}">
                      <a16:colId xmlns:a16="http://schemas.microsoft.com/office/drawing/2014/main" val="3915931980"/>
                    </a:ext>
                  </a:extLst>
                </a:gridCol>
                <a:gridCol w="406548">
                  <a:extLst>
                    <a:ext uri="{9D8B030D-6E8A-4147-A177-3AD203B41FA5}">
                      <a16:colId xmlns:a16="http://schemas.microsoft.com/office/drawing/2014/main" val="2652406050"/>
                    </a:ext>
                  </a:extLst>
                </a:gridCol>
                <a:gridCol w="406548">
                  <a:extLst>
                    <a:ext uri="{9D8B030D-6E8A-4147-A177-3AD203B41FA5}">
                      <a16:colId xmlns:a16="http://schemas.microsoft.com/office/drawing/2014/main" val="2048579449"/>
                    </a:ext>
                  </a:extLst>
                </a:gridCol>
                <a:gridCol w="406548">
                  <a:extLst>
                    <a:ext uri="{9D8B030D-6E8A-4147-A177-3AD203B41FA5}">
                      <a16:colId xmlns:a16="http://schemas.microsoft.com/office/drawing/2014/main" val="696317766"/>
                    </a:ext>
                  </a:extLst>
                </a:gridCol>
              </a:tblGrid>
              <a:tr h="146731"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0.023505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-0.00031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-0.00049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-0.00048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-0.00032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-4.9E-09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-0.00281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-0.00116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-0.00388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-0.00021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-0.00015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-9.1E-05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-5.5E-05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1.87E-06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-3.2E-05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8.44E-05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-2.5E-09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1.09E-09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9.04E-10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-5E-10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1.55E-10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1.47E-09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-1.6E-08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-6.3E-09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-1.2E-09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-3.2E-09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2.4E-09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-1.1E-09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34497232"/>
                  </a:ext>
                </a:extLst>
              </a:tr>
              <a:tr h="140861"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-0.00031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0.000165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1.01E-06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8.66E-07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-6.5E-07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-1.7E-11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-2.5E-06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-8.8E-07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-1.1E-06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-2.6E-07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2.42E-06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-3.6E-06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2.15E-06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-8.9E-08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-1.6E-06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7.44E-07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5.83E-11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-3.5E-11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-7.8E-12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-6.3E-13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-6.7E-11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2.05E-11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2.68E-10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5.16E-11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2.3E-10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-6E-11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-9.1E-11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1.04E-11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77124902"/>
                  </a:ext>
                </a:extLst>
              </a:tr>
              <a:tr h="140861"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-0.00049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1.01E-06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0.000493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-4.4E-06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7.95E-07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-6E-12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4.34E-06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4.72E-06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-5.3E-06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-5.4E-07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3.8E-06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2.09E-07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-6.3E-06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2.81E-06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6.31E-06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-6.8E-06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-2.4E-11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-9.9E-11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1.62E-10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-9.5E-11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3.34E-10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-3E-10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3.74E-10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3.26E-10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-3.6E-10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6.82E-10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3.75E-10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-2.5E-10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34814105"/>
                  </a:ext>
                </a:extLst>
              </a:tr>
              <a:tr h="140861"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-0.00048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8.66E-07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-4.4E-06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0.000499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-2.3E-06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4.75E-11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5.45E-06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-3.2E-07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-2.1E-06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-8.2E-07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1.17E-07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8.47E-07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-8E-06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1.74E-05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-9E-06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3.8E-06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-2.3E-11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2.21E-12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2.57E-10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2.05E-10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-9.1E-10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4.11E-10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-7.9E-11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3.89E-10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-4.5E-11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1.35E-10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-2.9E-10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-2.5E-11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64746308"/>
                  </a:ext>
                </a:extLst>
              </a:tr>
              <a:tr h="140861"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-0.00032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-6.5E-07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7.95E-07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-2.3E-06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0.000165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1.72E-11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-4E-06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-1.8E-06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5.27E-07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1.16E-07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-1.2E-06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1.87E-06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3.13E-06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-5.4E-06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-9.3E-07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5.95E-07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8.93E-11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-2E-10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3.93E-11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2.09E-10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-3.5E-10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2.41E-10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4.92E-10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9.07E-11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-9.8E-11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-6E-11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-2.2E-10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-2.3E-10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60762202"/>
                  </a:ext>
                </a:extLst>
              </a:tr>
              <a:tr h="140861"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-4.9E-09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-1.7E-11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-6E-12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4.75E-11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1.72E-11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3.65E-14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-2.5E-10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1.23E-09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6.35E-10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-4.7E-11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7.94E-11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4.89E-10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1.7E-10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1.98E-10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8.66E-11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3.62E-10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-1.7E-14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8.29E-15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7.37E-15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-1.1E-14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-4.9E-15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-5E-15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-4.2E-14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-3.1E-14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-2.2E-14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-2.9E-14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-2.7E-14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-3.2E-14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14790675"/>
                  </a:ext>
                </a:extLst>
              </a:tr>
              <a:tr h="140861"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-0.00281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-2.5E-06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4.34E-06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5.45E-06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-4E-06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-2.5E-10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0.001412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-4.6E-05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0.000134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1.28E-05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-4.8E-07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1.15E-05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1.49E-05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4.56E-06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1.95E-05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-1.8E-05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3.89E-10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1.02E-09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-2.8E-10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-1.3E-09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3.4E-10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-3.6E-10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1.36E-10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1.58E-09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7.26E-10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-3.8E-13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3.12E-10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6.61E-10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67801707"/>
                  </a:ext>
                </a:extLst>
              </a:tr>
              <a:tr h="140861"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-0.00116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-8.8E-07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4.72E-06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-3.2E-07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-1.8E-06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1.23E-09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-4.6E-05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0.000685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0.000104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-9.7E-06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-1E-05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-1.5E-05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-5.6E-06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-7.8E-06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-6.8E-06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1.08E-05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-1.1E-09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1.64E-10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1.13E-11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4.86E-11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1.35E-09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-6.9E-10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-2.5E-11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-6.8E-10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-4.3E-10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-7.8E-10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4.26E-10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-6E-11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11388045"/>
                  </a:ext>
                </a:extLst>
              </a:tr>
              <a:tr h="140861"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-0.00388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-1.1E-06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-5.3E-06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-2.1E-06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5.27E-07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6.35E-10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0.000134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0.000104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0.001471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3.21E-05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6.63E-07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1.95E-05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-7.9E-06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3.63E-06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-3.3E-06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-6.7E-06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-9.5E-11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-2.1E-10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-1.4E-10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8.68E-10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-3E-10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-1.4E-10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-2.2E-10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-6.8E-10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-8.7E-10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-3.5E-12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-1.7E-09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-2.5E-10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00677335"/>
                  </a:ext>
                </a:extLst>
              </a:tr>
              <a:tr h="140861"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-0.00021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-2.6E-07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-5.4E-07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-8.2E-07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1.16E-07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-4.7E-11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1.28E-05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-9.7E-06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3.21E-05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4.75E-06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6.18E-08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1.07E-06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2.68E-07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-1.4E-07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9.56E-07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-6.1E-07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1.38E-11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-1.5E-11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-3.4E-11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3.43E-11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-3.3E-12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-8.2E-12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8.16E-11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1.56E-11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-3.6E-11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4.14E-11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4.96E-13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4.53E-11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95903754"/>
                  </a:ext>
                </a:extLst>
              </a:tr>
              <a:tr h="140861"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-0.00015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2.42E-06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3.8E-06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1.17E-07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-1.2E-06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7.94E-11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-4.8E-07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-1E-05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6.63E-07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6.18E-08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0.000453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-0.00018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6.46E-06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-3.1E-05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1.35E-06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-2E-05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1.37E-09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-1.3E-09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-1E-10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2.8E-10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-1E-09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1.26E-10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4.53E-09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2.19E-09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1.22E-09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1.82E-09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1.62E-10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5.77E-10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38665481"/>
                  </a:ext>
                </a:extLst>
              </a:tr>
              <a:tr h="140861"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-9.1E-05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-3.6E-06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2.09E-07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8.47E-07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1.87E-06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4.89E-10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1.15E-05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-1.5E-05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1.95E-05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1.07E-06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-0.00018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0.00059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-0.00031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3.73E-06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-5.3E-05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-1.5E-05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-2.6E-09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8.07E-10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2.97E-10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5.48E-11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4.38E-10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-4.2E-11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8.75E-09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-1.7E-09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-1.8E-10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-8.8E-10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-6.1E-10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-1E-09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75747873"/>
                  </a:ext>
                </a:extLst>
              </a:tr>
              <a:tr h="140861"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-5.5E-05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2.15E-06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-6.3E-06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-8E-06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3.13E-06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1.7E-10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1.49E-05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-5.6E-06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-7.9E-06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2.68E-07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6.46E-06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-0.00031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0.000741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-0.00036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1.77E-05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-5E-05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2.19E-09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-2.3E-09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-3E-10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1.27E-10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-4E-10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6.91E-10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-8.2E-09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7.94E-09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-1.1E-09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5.99E-10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-4.8E-10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4.38E-10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72007726"/>
                  </a:ext>
                </a:extLst>
              </a:tr>
              <a:tr h="140861"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1.87E-06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-8.9E-08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2.81E-06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1.74E-05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-5.4E-06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1.98E-10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4.56E-06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-7.8E-06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3.63E-06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-1.4E-07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-3.1E-05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3.73E-06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-0.00036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0.000955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-0.00048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-4.8E-05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7.07E-10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6.93E-10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-1.8E-09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-1.9E-09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2.89E-09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-8.1E-10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4.25E-10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-6E-09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8.75E-09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-3.3E-09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2.74E-10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-4.8E-10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71741321"/>
                  </a:ext>
                </a:extLst>
              </a:tr>
              <a:tr h="140861"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-3.2E-05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-1.6E-06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6.31E-06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-9E-06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-9.3E-07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8.66E-11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1.95E-05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-6.8E-06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-3.3E-06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9.56E-07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1.35E-06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-5.3E-05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1.77E-05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-0.00048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0.001041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-0.00046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3E-10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3.39E-10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1.16E-09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-1.9E-09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-1.8E-09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1.43E-09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3.97E-10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2.25E-10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-6.3E-09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8.31E-09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-1.7E-09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5.9E-10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59682925"/>
                  </a:ext>
                </a:extLst>
              </a:tr>
              <a:tr h="140861"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8.44E-05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7.44E-07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-6.8E-06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3.8E-06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5.95E-07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3.62E-10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-1.8E-05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1.08E-05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-6.7E-06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-6.1E-07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-2E-05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-1.5E-05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-5E-05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-4.8E-05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-0.00046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0.000695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2.32E-10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5.77E-10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2.01E-10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2.63E-09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-2.2E-09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-2.9E-09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-6.1E-10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2.6E-10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-4.4E-11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-3.8E-09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3.71E-09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-4.3E-10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19402401"/>
                  </a:ext>
                </a:extLst>
              </a:tr>
              <a:tr h="140861"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-2.5E-09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5.83E-11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-2.4E-11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-2.3E-11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8.93E-11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-1.7E-14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3.89E-10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-1.1E-09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-9.5E-11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1.38E-11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1.37E-09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-2.6E-09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2.19E-09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7.07E-10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3E-10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2.32E-10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2.11E-12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-2E-12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-1.3E-13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-7.9E-15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4.23E-14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1.51E-14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1.72E-12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-8.4E-14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-1.8E-13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-2E-13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-1.3E-13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-1.1E-13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43498532"/>
                  </a:ext>
                </a:extLst>
              </a:tr>
              <a:tr h="140861"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1.09E-09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-3.5E-11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-9.9E-11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2.21E-12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-2E-10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8.29E-15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1.02E-09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1.64E-10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-2.1E-10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-1.5E-11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-1.3E-09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8.07E-10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-2.3E-09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6.93E-10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3.39E-10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5.77E-10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-2E-12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3.39E-12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-1.3E-12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-5.3E-14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-3.7E-14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2.97E-14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-2.2E-12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1.26E-12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5.35E-14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6.17E-14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-7.4E-15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6.84E-14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79784632"/>
                  </a:ext>
                </a:extLst>
              </a:tr>
              <a:tr h="140861"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9.04E-10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-7.8E-12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1.62E-10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2.57E-10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3.93E-11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7.37E-15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-2.8E-10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1.13E-11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-1.4E-10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-3.4E-11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-1E-10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2.97E-10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-3E-10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-1.8E-09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1.16E-09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2.01E-10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-1.3E-13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-1.3E-12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2.77E-12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-1.2E-12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-8.3E-14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-2.5E-14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7.42E-14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-1.6E-12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1.23E-12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2.28E-14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3.3E-14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-3.9E-14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91725500"/>
                  </a:ext>
                </a:extLst>
              </a:tr>
              <a:tr h="140861"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-5E-10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-6.3E-13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-9.5E-11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2.05E-10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2.09E-10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-1.1E-14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-1.3E-09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4.86E-11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8.68E-10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3.43E-11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2.8E-10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5.48E-11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1.27E-10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-1.9E-09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-1.9E-09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2.63E-09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-7.9E-15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-5.3E-14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-1.2E-12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3.53E-12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-2.1E-12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-1.3E-13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-3.9E-15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2.38E-14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-1.7E-12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1.95E-12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-6.9E-16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-2.6E-14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28447180"/>
                  </a:ext>
                </a:extLst>
              </a:tr>
              <a:tr h="140861"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1.55E-10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-6.7E-11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3.34E-10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-9.1E-10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-3.5E-10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-4.9E-15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3.4E-10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1.35E-09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-3E-10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-3.3E-12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-1E-09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4.38E-10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-4E-10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2.89E-09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-1.8E-09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-2.2E-09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4.23E-14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-3.7E-14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-8.3E-14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-2.1E-12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4.24E-12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-2E-12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9.69E-14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-2E-14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2.22E-13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-2.3E-12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1.72E-12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-2.6E-13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74114237"/>
                  </a:ext>
                </a:extLst>
              </a:tr>
              <a:tr h="140861"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1.47E-09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2.05E-11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-3E-10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4.11E-10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2.41E-10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-5E-15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-3.6E-10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-6.9E-10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-1.4E-10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-8.2E-12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1.26E-10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-4.2E-11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6.91E-10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-8.1E-10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1.43E-09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-2.9E-09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1.51E-14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2.97E-14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-2.5E-14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-1.3E-13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-2E-12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2.26E-12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1.54E-13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3E-13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1.93E-13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2.99E-13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-1.7E-12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3.66E-13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66641757"/>
                  </a:ext>
                </a:extLst>
              </a:tr>
              <a:tr h="140861"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-1.6E-08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2.68E-10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3.74E-10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-7.9E-11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4.92E-10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-4.2E-14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1.36E-10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-2.5E-11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-2.2E-10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8.16E-11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4.53E-09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8.75E-09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-8.2E-09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4.25E-10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3.97E-10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-6.1E-10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1.72E-12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-2.2E-12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7.42E-14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-3.9E-15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9.69E-14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1.54E-13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9.18E-12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-9E-13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-6.2E-13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-5.6E-13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-3.7E-13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-2.6E-13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15109967"/>
                  </a:ext>
                </a:extLst>
              </a:tr>
              <a:tr h="140861"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-6.3E-09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5.16E-11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3.26E-10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3.89E-10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9.07E-11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-3.1E-14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1.58E-09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-6.8E-10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-6.8E-10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1.56E-11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2.19E-09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-1.7E-09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7.94E-09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-6E-09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2.25E-10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2.6E-10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-8.4E-14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1.26E-12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-1.6E-12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2.38E-14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-2E-14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3E-13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-9E-13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5.16E-12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-5.4E-13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-3.7E-13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-3.8E-13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-1.2E-13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22291166"/>
                  </a:ext>
                </a:extLst>
              </a:tr>
              <a:tr h="140861"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-1.2E-09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2.3E-10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-3.6E-10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-4.5E-11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-9.8E-11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-2.2E-14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7.26E-10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-4.3E-10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-8.7E-10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-3.6E-11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1.22E-09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-1.8E-10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-1.1E-09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8.75E-09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-6.3E-09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-4.4E-11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-1.8E-13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5.35E-14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1.23E-12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-1.7E-12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2.22E-13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1.93E-13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-6.2E-13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-5.4E-13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5.15E-12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-7.3E-13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-3.2E-13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-1.7E-13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4769286"/>
                  </a:ext>
                </a:extLst>
              </a:tr>
              <a:tr h="140861"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-3.2E-09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-6E-11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6.82E-10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1.35E-10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-6E-11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-2.9E-14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-3.8E-13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-7.8E-10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-3.5E-12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4.14E-11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1.82E-09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-8.8E-10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5.99E-10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-3.3E-09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8.31E-09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-3.8E-09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-2E-13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6.17E-14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2.28E-14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1.95E-12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-2.3E-12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2.99E-13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-5.6E-13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-3.7E-13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-7.3E-13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5.36E-12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-5.3E-13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-1.2E-13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81086326"/>
                  </a:ext>
                </a:extLst>
              </a:tr>
              <a:tr h="140861"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2.4E-09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-9.1E-11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3.75E-10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-2.9E-10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-2.2E-10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-2.7E-14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3.12E-10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4.26E-10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-1.7E-09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4.96E-13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1.62E-10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-6.1E-10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-4.8E-10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2.74E-10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-1.7E-09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3.71E-09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-1.3E-13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-7.4E-15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3.3E-14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-6.9E-16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1.72E-12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-1.7E-12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-3.7E-13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-3.8E-13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-3.2E-13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-5.3E-13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3.96E-12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-4E-13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79563606"/>
                  </a:ext>
                </a:extLst>
              </a:tr>
              <a:tr h="140861"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-1.1E-09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1.04E-11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-2.5E-10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-2.5E-11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-2.3E-10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-3.2E-14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6.61E-10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-6E-11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-2.5E-10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4.53E-11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5.77E-10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-1E-09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4.38E-10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-4.8E-10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5.9E-10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-4.3E-10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-1.1E-13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6.84E-14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-3.9E-14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-2.6E-14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-2.6E-13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3.66E-13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-2.6E-13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-1.2E-13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-1.7E-13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-1.2E-13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-4E-13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2.57E-12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96992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678651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6E8D72-94C8-415C-B2BA-22DA2D01EB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F00982-FDE7-4D69-ACDA-54A7197E78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650774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172</TotalTime>
  <Words>1343</Words>
  <Application>Microsoft Office PowerPoint</Application>
  <PresentationFormat>Widescreen</PresentationFormat>
  <Paragraphs>805</Paragraphs>
  <Slides>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Final Prediction</vt:lpstr>
      <vt:lpstr>Annexures</vt:lpstr>
      <vt:lpstr>Annexures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NITIE Mumbai</dc:title>
  <dc:creator>Shantam Choubey</dc:creator>
  <cp:lastModifiedBy>Shantam Choubey</cp:lastModifiedBy>
  <cp:revision>15</cp:revision>
  <dcterms:created xsi:type="dcterms:W3CDTF">2021-11-12T02:46:55Z</dcterms:created>
  <dcterms:modified xsi:type="dcterms:W3CDTF">2026-06-21T16:08:27Z</dcterms:modified>
</cp:coreProperties>
</file>